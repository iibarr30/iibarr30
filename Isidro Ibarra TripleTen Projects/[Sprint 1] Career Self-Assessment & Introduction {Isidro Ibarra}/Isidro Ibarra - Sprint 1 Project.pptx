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Inter ExtraBold"/>
      <p:bold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InterExtraBold-bold.fntdata"/><Relationship Id="rId21" Type="http://schemas.openxmlformats.org/officeDocument/2006/relationships/font" Target="fonts/Inter-boldItalic.fntdata"/><Relationship Id="rId24" Type="http://schemas.openxmlformats.org/officeDocument/2006/relationships/font" Target="fonts/InterMedium-regular.fntdata"/><Relationship Id="rId23" Type="http://schemas.openxmlformats.org/officeDocument/2006/relationships/font" Target="fonts/InterExtra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7" Type="http://schemas.openxmlformats.org/officeDocument/2006/relationships/font" Target="fonts/Inter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04073b74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04073b74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04073b74c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04073b74c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4159ec1d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4159ec1d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04159ec1d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04159ec1d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4159ec1d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04159ec1d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4159ec1d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04159ec1d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4159ec1da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04159ec1da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4159ec1da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4159ec1d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04159ec1da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04159ec1da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4159ec1da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04159ec1da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4159ec1da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04159ec1da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f5f1bdb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5f5f1bdb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f5f1bdb8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5f5f1bdb8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5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4294967295" type="ctrTitle"/>
          </p:nvPr>
        </p:nvSpPr>
        <p:spPr>
          <a:xfrm>
            <a:off x="64008" y="638300"/>
            <a:ext cx="8520600" cy="17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Design elements </a:t>
            </a:r>
            <a:br>
              <a:rPr lang="en" sz="6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</a:br>
            <a:r>
              <a:rPr lang="en" sz="6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for network diagrams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CS Sprint 1 | Final Project</a:t>
            </a:r>
            <a:endParaRPr sz="1200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idx="4294967295"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Instructions for the template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" name="Google Shape;65;p15"/>
          <p:cNvSpPr txBox="1"/>
          <p:nvPr>
            <p:ph idx="4294967295" type="subTitle"/>
          </p:nvPr>
        </p:nvSpPr>
        <p:spPr>
          <a:xfrm>
            <a:off x="139800" y="1948300"/>
            <a:ext cx="8520600" cy="29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Inter"/>
              <a:buAutoNum type="arabicPeriod"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Create a copy of this file.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Inter"/>
              <a:buAutoNum type="arabicPeriod"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Use the elements from this file for your “Tempus Fugit” Project. 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Inter"/>
              <a:buAutoNum type="arabicPeriod"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If you’ve deleted any icons or slides from your own copy, you can easily copy and paste necessary slides from here.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Inter"/>
              <a:buAutoNum type="arabicPeriod"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When you paste any text from another source, please use the “match destination </a:t>
            </a: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formatting</a:t>
            </a: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” option to keep your project’s style consistent.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Inter"/>
              <a:buAutoNum type="arabicPeriod"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Enjoy!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139800" y="1114250"/>
            <a:ext cx="387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Do not change this file!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264575" y="3082400"/>
            <a:ext cx="8585700" cy="1693200"/>
          </a:xfrm>
          <a:prstGeom prst="roundRect">
            <a:avLst>
              <a:gd fmla="val 974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4294967295" type="ctrTitle"/>
          </p:nvPr>
        </p:nvSpPr>
        <p:spPr>
          <a:xfrm>
            <a:off x="85725" y="102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Devices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0" l="288" r="298" t="0"/>
          <a:stretch/>
        </p:blipFill>
        <p:spPr>
          <a:xfrm>
            <a:off x="663450" y="993250"/>
            <a:ext cx="1825752" cy="12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13851" l="13649" r="12811" t="13098"/>
          <a:stretch/>
        </p:blipFill>
        <p:spPr>
          <a:xfrm>
            <a:off x="512125" y="3273125"/>
            <a:ext cx="1333750" cy="13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 rotWithShape="1">
          <a:blip r:embed="rId5">
            <a:alphaModFix/>
          </a:blip>
          <a:srcRect b="249" l="0" r="0" t="249"/>
          <a:stretch/>
        </p:blipFill>
        <p:spPr>
          <a:xfrm>
            <a:off x="3400342" y="1097957"/>
            <a:ext cx="2019066" cy="106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1166" y="3332989"/>
            <a:ext cx="1192039" cy="1192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7">
            <a:alphaModFix/>
          </a:blip>
          <a:srcRect b="249" l="0" r="0" t="249"/>
          <a:stretch/>
        </p:blipFill>
        <p:spPr>
          <a:xfrm>
            <a:off x="6330547" y="1097962"/>
            <a:ext cx="2029806" cy="106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91226" y="3346452"/>
            <a:ext cx="1192039" cy="119202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780200" y="2369075"/>
            <a:ext cx="15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Router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400338" y="2369075"/>
            <a:ext cx="15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Switch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6330550" y="2369075"/>
            <a:ext cx="15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Hub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5146125" y="3826250"/>
            <a:ext cx="370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If you need to make a complicated design, use these simplified icons </a:t>
            </a:r>
            <a:b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to keep the diagram clean and readable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41300" y="3346450"/>
            <a:ext cx="355850" cy="3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4294967295" type="ctrTitle"/>
          </p:nvPr>
        </p:nvSpPr>
        <p:spPr>
          <a:xfrm>
            <a:off x="85725" y="102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Devices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219" r="209" t="0"/>
          <a:stretch/>
        </p:blipFill>
        <p:spPr>
          <a:xfrm>
            <a:off x="491800" y="2527293"/>
            <a:ext cx="1712134" cy="1660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1041" y="2707669"/>
            <a:ext cx="1597893" cy="1583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5">
            <a:alphaModFix/>
          </a:blip>
          <a:srcRect b="416" l="0" r="0" t="426"/>
          <a:stretch/>
        </p:blipFill>
        <p:spPr>
          <a:xfrm>
            <a:off x="3653941" y="2849489"/>
            <a:ext cx="1384159" cy="1299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35192" y="529899"/>
            <a:ext cx="1234945" cy="1299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6422" y="529899"/>
            <a:ext cx="2335786" cy="141844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2100281" y="2044982"/>
            <a:ext cx="15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Phone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4704949" y="2044982"/>
            <a:ext cx="221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User Devices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491801" y="4339919"/>
            <a:ext cx="15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Firewall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2849324" y="4339925"/>
            <a:ext cx="299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Wi-Fi access point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6847589" y="4339919"/>
            <a:ext cx="15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Printer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8"/>
          <p:cNvCxnSpPr/>
          <p:nvPr/>
        </p:nvCxnSpPr>
        <p:spPr>
          <a:xfrm rot="10800000">
            <a:off x="7608225" y="1623938"/>
            <a:ext cx="3900" cy="7815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8"/>
          <p:cNvCxnSpPr/>
          <p:nvPr/>
        </p:nvCxnSpPr>
        <p:spPr>
          <a:xfrm rot="10800000">
            <a:off x="7731400" y="2564050"/>
            <a:ext cx="393600" cy="5121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8"/>
          <p:cNvCxnSpPr/>
          <p:nvPr/>
        </p:nvCxnSpPr>
        <p:spPr>
          <a:xfrm flipH="1" rot="10800000">
            <a:off x="7136800" y="2487350"/>
            <a:ext cx="403200" cy="5997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8"/>
          <p:cNvCxnSpPr/>
          <p:nvPr/>
        </p:nvCxnSpPr>
        <p:spPr>
          <a:xfrm>
            <a:off x="6864363" y="2414700"/>
            <a:ext cx="14916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4294967295" type="ctrTitle"/>
          </p:nvPr>
        </p:nvSpPr>
        <p:spPr>
          <a:xfrm>
            <a:off x="85725" y="102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Topologies</a:t>
            </a:r>
            <a:endParaRPr>
              <a:solidFill>
                <a:schemeClr val="accent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69150" y="1527375"/>
            <a:ext cx="2000100" cy="2000100"/>
          </a:xfrm>
          <a:prstGeom prst="ellipse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13" y="1451175"/>
            <a:ext cx="715750" cy="447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p18"/>
          <p:cNvGrpSpPr/>
          <p:nvPr/>
        </p:nvGrpSpPr>
        <p:grpSpPr>
          <a:xfrm>
            <a:off x="3374063" y="1999575"/>
            <a:ext cx="2340000" cy="824400"/>
            <a:chOff x="3292825" y="1599775"/>
            <a:chExt cx="2340000" cy="824400"/>
          </a:xfrm>
        </p:grpSpPr>
        <p:cxnSp>
          <p:nvCxnSpPr>
            <p:cNvPr id="111" name="Google Shape;111;p18"/>
            <p:cNvCxnSpPr/>
            <p:nvPr/>
          </p:nvCxnSpPr>
          <p:spPr>
            <a:xfrm>
              <a:off x="3292825" y="2011975"/>
              <a:ext cx="2340000" cy="0"/>
            </a:xfrm>
            <a:prstGeom prst="straightConnector1">
              <a:avLst/>
            </a:prstGeom>
            <a:noFill/>
            <a:ln cap="flat" cmpd="sng" w="9525">
              <a:solidFill>
                <a:srgbClr val="1A1A1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" name="Google Shape;112;p18"/>
            <p:cNvCxnSpPr/>
            <p:nvPr/>
          </p:nvCxnSpPr>
          <p:spPr>
            <a:xfrm rot="10800000">
              <a:off x="3731975" y="1599775"/>
              <a:ext cx="0" cy="412200"/>
            </a:xfrm>
            <a:prstGeom prst="straightConnector1">
              <a:avLst/>
            </a:prstGeom>
            <a:noFill/>
            <a:ln cap="flat" cmpd="sng" w="9525">
              <a:solidFill>
                <a:srgbClr val="1A1A1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18"/>
            <p:cNvCxnSpPr/>
            <p:nvPr/>
          </p:nvCxnSpPr>
          <p:spPr>
            <a:xfrm rot="10800000">
              <a:off x="4217375" y="2011975"/>
              <a:ext cx="0" cy="412200"/>
            </a:xfrm>
            <a:prstGeom prst="straightConnector1">
              <a:avLst/>
            </a:prstGeom>
            <a:noFill/>
            <a:ln cap="flat" cmpd="sng" w="9525">
              <a:solidFill>
                <a:srgbClr val="1A1A1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" name="Google Shape;114;p18"/>
            <p:cNvCxnSpPr/>
            <p:nvPr/>
          </p:nvCxnSpPr>
          <p:spPr>
            <a:xfrm rot="10800000">
              <a:off x="4711950" y="1599775"/>
              <a:ext cx="0" cy="412200"/>
            </a:xfrm>
            <a:prstGeom prst="straightConnector1">
              <a:avLst/>
            </a:prstGeom>
            <a:noFill/>
            <a:ln cap="flat" cmpd="sng" w="9525">
              <a:solidFill>
                <a:srgbClr val="1A1A1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 rot="10800000">
              <a:off x="5243675" y="2011975"/>
              <a:ext cx="0" cy="412200"/>
            </a:xfrm>
            <a:prstGeom prst="straightConnector1">
              <a:avLst/>
            </a:prstGeom>
            <a:noFill/>
            <a:ln cap="flat" cmpd="sng" w="9525">
              <a:solidFill>
                <a:srgbClr val="1A1A1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838" y="1451175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663" y="2187813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6638" y="2187813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13" y="2924475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838" y="2924475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338" y="1623937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0738" y="2690738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313" y="1623937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7038" y="2690738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288" y="1395663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588" y="2116125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4988" y="2116125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5550" y="3003350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9025" y="3003350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0075" y="2121713"/>
            <a:ext cx="580175" cy="58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373897" y="3844150"/>
            <a:ext cx="21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Ring topology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3448772" y="3844150"/>
            <a:ext cx="21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Bus</a:t>
            </a: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topology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6523647" y="3844150"/>
            <a:ext cx="21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Star</a:t>
            </a: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topology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idx="4294967295" type="ctrTitle"/>
          </p:nvPr>
        </p:nvSpPr>
        <p:spPr>
          <a:xfrm>
            <a:off x="85725" y="102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Topologies</a:t>
            </a:r>
            <a:endParaRPr>
              <a:solidFill>
                <a:schemeClr val="accent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13" y="2460700"/>
            <a:ext cx="715750" cy="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697585" y="3843213"/>
            <a:ext cx="21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Mesh</a:t>
            </a: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topology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4473075" y="3961000"/>
            <a:ext cx="326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Hub-and-Spoke</a:t>
            </a: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topology</a:t>
            </a:r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13" y="1508575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012" y="996775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7213" y="2460700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7213" y="1508575"/>
            <a:ext cx="715750" cy="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012" y="3116250"/>
            <a:ext cx="715750" cy="447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9"/>
          <p:cNvCxnSpPr/>
          <p:nvPr/>
        </p:nvCxnSpPr>
        <p:spPr>
          <a:xfrm>
            <a:off x="1792887" y="1474375"/>
            <a:ext cx="0" cy="161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9"/>
          <p:cNvCxnSpPr>
            <a:stCxn id="142" idx="3"/>
            <a:endCxn id="144" idx="1"/>
          </p:cNvCxnSpPr>
          <p:nvPr/>
        </p:nvCxnSpPr>
        <p:spPr>
          <a:xfrm>
            <a:off x="1018562" y="1732538"/>
            <a:ext cx="1548600" cy="95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9"/>
          <p:cNvCxnSpPr>
            <a:stCxn id="139" idx="3"/>
            <a:endCxn id="145" idx="1"/>
          </p:cNvCxnSpPr>
          <p:nvPr/>
        </p:nvCxnSpPr>
        <p:spPr>
          <a:xfrm flipH="1" rot="10800000">
            <a:off x="1018562" y="1732463"/>
            <a:ext cx="1548600" cy="95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9"/>
          <p:cNvCxnSpPr>
            <a:endCxn id="143" idx="1"/>
          </p:cNvCxnSpPr>
          <p:nvPr/>
        </p:nvCxnSpPr>
        <p:spPr>
          <a:xfrm flipH="1" rot="10800000">
            <a:off x="742313" y="1220738"/>
            <a:ext cx="692700" cy="24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9"/>
          <p:cNvCxnSpPr/>
          <p:nvPr/>
        </p:nvCxnSpPr>
        <p:spPr>
          <a:xfrm rot="10800000">
            <a:off x="2150713" y="1220738"/>
            <a:ext cx="692700" cy="24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9"/>
          <p:cNvCxnSpPr/>
          <p:nvPr/>
        </p:nvCxnSpPr>
        <p:spPr>
          <a:xfrm>
            <a:off x="742313" y="2955038"/>
            <a:ext cx="692700" cy="24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9"/>
          <p:cNvCxnSpPr/>
          <p:nvPr/>
        </p:nvCxnSpPr>
        <p:spPr>
          <a:xfrm flipH="1">
            <a:off x="2150713" y="2955038"/>
            <a:ext cx="692700" cy="24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9"/>
          <p:cNvCxnSpPr/>
          <p:nvPr/>
        </p:nvCxnSpPr>
        <p:spPr>
          <a:xfrm>
            <a:off x="660675" y="1984650"/>
            <a:ext cx="0" cy="44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9"/>
          <p:cNvCxnSpPr/>
          <p:nvPr/>
        </p:nvCxnSpPr>
        <p:spPr>
          <a:xfrm>
            <a:off x="2925100" y="1984650"/>
            <a:ext cx="0" cy="44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9"/>
          <p:cNvCxnSpPr/>
          <p:nvPr/>
        </p:nvCxnSpPr>
        <p:spPr>
          <a:xfrm>
            <a:off x="1018613" y="1643138"/>
            <a:ext cx="155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9"/>
          <p:cNvCxnSpPr/>
          <p:nvPr/>
        </p:nvCxnSpPr>
        <p:spPr>
          <a:xfrm>
            <a:off x="1018613" y="2740563"/>
            <a:ext cx="155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9"/>
          <p:cNvCxnSpPr/>
          <p:nvPr/>
        </p:nvCxnSpPr>
        <p:spPr>
          <a:xfrm>
            <a:off x="1018600" y="1822988"/>
            <a:ext cx="694200" cy="12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9"/>
          <p:cNvCxnSpPr/>
          <p:nvPr/>
        </p:nvCxnSpPr>
        <p:spPr>
          <a:xfrm flipH="1">
            <a:off x="1872950" y="1822988"/>
            <a:ext cx="694200" cy="12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9"/>
          <p:cNvCxnSpPr/>
          <p:nvPr/>
        </p:nvCxnSpPr>
        <p:spPr>
          <a:xfrm flipH="1" rot="10800000">
            <a:off x="1018612" y="1498388"/>
            <a:ext cx="702000" cy="112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9"/>
          <p:cNvCxnSpPr/>
          <p:nvPr/>
        </p:nvCxnSpPr>
        <p:spPr>
          <a:xfrm rot="10800000">
            <a:off x="1871162" y="1498388"/>
            <a:ext cx="696000" cy="112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875" y="2015700"/>
            <a:ext cx="492620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4330135" y="2508288"/>
            <a:ext cx="117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875" y="982238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875" y="3126350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2225" y="2015700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3000" y="2779225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225" y="1265400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7525" y="1265400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7525" y="2779225"/>
            <a:ext cx="492620" cy="49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9"/>
          <p:cNvCxnSpPr>
            <a:stCxn id="162" idx="0"/>
            <a:endCxn id="164" idx="2"/>
          </p:cNvCxnSpPr>
          <p:nvPr/>
        </p:nvCxnSpPr>
        <p:spPr>
          <a:xfrm rot="10800000">
            <a:off x="4919185" y="1474800"/>
            <a:ext cx="0" cy="5409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9"/>
          <p:cNvCxnSpPr>
            <a:stCxn id="165" idx="0"/>
            <a:endCxn id="163" idx="0"/>
          </p:cNvCxnSpPr>
          <p:nvPr/>
        </p:nvCxnSpPr>
        <p:spPr>
          <a:xfrm rot="10800000">
            <a:off x="4919185" y="2508350"/>
            <a:ext cx="0" cy="618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9"/>
          <p:cNvCxnSpPr>
            <a:endCxn id="166" idx="3"/>
          </p:cNvCxnSpPr>
          <p:nvPr/>
        </p:nvCxnSpPr>
        <p:spPr>
          <a:xfrm rot="10800000">
            <a:off x="4144845" y="2262000"/>
            <a:ext cx="528000" cy="57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9"/>
          <p:cNvCxnSpPr/>
          <p:nvPr/>
        </p:nvCxnSpPr>
        <p:spPr>
          <a:xfrm rot="10800000">
            <a:off x="4334945" y="1745400"/>
            <a:ext cx="342300" cy="276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9"/>
          <p:cNvCxnSpPr/>
          <p:nvPr/>
        </p:nvCxnSpPr>
        <p:spPr>
          <a:xfrm flipH="1" rot="10800000">
            <a:off x="5161095" y="1745400"/>
            <a:ext cx="342300" cy="276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9"/>
          <p:cNvCxnSpPr/>
          <p:nvPr/>
        </p:nvCxnSpPr>
        <p:spPr>
          <a:xfrm flipH="1">
            <a:off x="4334945" y="2508300"/>
            <a:ext cx="342300" cy="276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9"/>
          <p:cNvCxnSpPr/>
          <p:nvPr/>
        </p:nvCxnSpPr>
        <p:spPr>
          <a:xfrm>
            <a:off x="5161095" y="2508300"/>
            <a:ext cx="342300" cy="276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5150" y="2015700"/>
            <a:ext cx="492620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6952410" y="2508288"/>
            <a:ext cx="117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5150" y="982238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5150" y="3126350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600" y="2015700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5275" y="2779225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0500" y="1265400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9800" y="1265400"/>
            <a:ext cx="49262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9800" y="2779225"/>
            <a:ext cx="492620" cy="49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19"/>
          <p:cNvCxnSpPr>
            <a:stCxn id="178" idx="0"/>
            <a:endCxn id="180" idx="2"/>
          </p:cNvCxnSpPr>
          <p:nvPr/>
        </p:nvCxnSpPr>
        <p:spPr>
          <a:xfrm rot="10800000">
            <a:off x="7541460" y="1474800"/>
            <a:ext cx="0" cy="5409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9"/>
          <p:cNvCxnSpPr>
            <a:stCxn id="181" idx="0"/>
            <a:endCxn id="179" idx="0"/>
          </p:cNvCxnSpPr>
          <p:nvPr/>
        </p:nvCxnSpPr>
        <p:spPr>
          <a:xfrm rot="10800000">
            <a:off x="7541460" y="2508350"/>
            <a:ext cx="0" cy="618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9"/>
          <p:cNvCxnSpPr>
            <a:stCxn id="182" idx="1"/>
          </p:cNvCxnSpPr>
          <p:nvPr/>
        </p:nvCxnSpPr>
        <p:spPr>
          <a:xfrm rot="10800000">
            <a:off x="7783500" y="2262000"/>
            <a:ext cx="5841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9"/>
          <p:cNvCxnSpPr/>
          <p:nvPr/>
        </p:nvCxnSpPr>
        <p:spPr>
          <a:xfrm rot="10800000">
            <a:off x="6957220" y="1745400"/>
            <a:ext cx="342300" cy="276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9"/>
          <p:cNvCxnSpPr/>
          <p:nvPr/>
        </p:nvCxnSpPr>
        <p:spPr>
          <a:xfrm flipH="1" rot="10800000">
            <a:off x="7783370" y="1745400"/>
            <a:ext cx="342300" cy="276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9"/>
          <p:cNvCxnSpPr/>
          <p:nvPr/>
        </p:nvCxnSpPr>
        <p:spPr>
          <a:xfrm flipH="1">
            <a:off x="6957220" y="2508300"/>
            <a:ext cx="342300" cy="276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9"/>
          <p:cNvCxnSpPr/>
          <p:nvPr/>
        </p:nvCxnSpPr>
        <p:spPr>
          <a:xfrm>
            <a:off x="7783370" y="2508300"/>
            <a:ext cx="342300" cy="276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9"/>
          <p:cNvCxnSpPr>
            <a:stCxn id="178" idx="1"/>
          </p:cNvCxnSpPr>
          <p:nvPr/>
        </p:nvCxnSpPr>
        <p:spPr>
          <a:xfrm rot="10800000">
            <a:off x="5172050" y="2262000"/>
            <a:ext cx="21231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idx="4294967295" type="ctrTitle"/>
          </p:nvPr>
        </p:nvSpPr>
        <p:spPr>
          <a:xfrm>
            <a:off x="85725" y="102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Area Networks</a:t>
            </a:r>
            <a:endParaRPr>
              <a:solidFill>
                <a:schemeClr val="accent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9152" y="876057"/>
            <a:ext cx="1688347" cy="1688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1856" y="863048"/>
            <a:ext cx="1688348" cy="17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800" y="975556"/>
            <a:ext cx="1489369" cy="148938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736944" y="2670245"/>
            <a:ext cx="1504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Internet (WAN)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3448598" y="2670238"/>
            <a:ext cx="1925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Local Network</a:t>
            </a:r>
            <a:b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(LAN)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153263" y="2670238"/>
            <a:ext cx="236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Wireless Network</a:t>
            </a:r>
            <a:b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(WLAN)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279150" y="3615975"/>
            <a:ext cx="8585700" cy="1356000"/>
          </a:xfrm>
          <a:prstGeom prst="roundRect">
            <a:avLst>
              <a:gd fmla="val 974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831150" y="3722450"/>
            <a:ext cx="3460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When you need to create connections between the networks, please use </a:t>
            </a:r>
            <a:b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the following types of lines:</a:t>
            </a:r>
            <a:endParaRPr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8" name="Google Shape;2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950" y="3836175"/>
            <a:ext cx="355850" cy="355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20"/>
          <p:cNvCxnSpPr/>
          <p:nvPr/>
        </p:nvCxnSpPr>
        <p:spPr>
          <a:xfrm>
            <a:off x="4495800" y="3924050"/>
            <a:ext cx="1264200" cy="0"/>
          </a:xfrm>
          <a:prstGeom prst="straightConnector1">
            <a:avLst/>
          </a:prstGeom>
          <a:noFill/>
          <a:ln cap="flat" cmpd="sng" w="19050">
            <a:solidFill>
              <a:srgbClr val="187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0"/>
          <p:cNvCxnSpPr/>
          <p:nvPr/>
        </p:nvCxnSpPr>
        <p:spPr>
          <a:xfrm>
            <a:off x="4495800" y="4298788"/>
            <a:ext cx="126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4495800" y="4673550"/>
            <a:ext cx="126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 txBox="1"/>
          <p:nvPr/>
        </p:nvSpPr>
        <p:spPr>
          <a:xfrm>
            <a:off x="5804800" y="4098700"/>
            <a:ext cx="265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Wired network for LAN</a:t>
            </a:r>
            <a:endParaRPr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804800" y="3723950"/>
            <a:ext cx="265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Wired network for WAN</a:t>
            </a:r>
            <a:endParaRPr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804800" y="4473450"/>
            <a:ext cx="265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Wireless network for WLAN</a:t>
            </a:r>
            <a:endParaRPr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idx="4294967295" type="ctrTitle"/>
          </p:nvPr>
        </p:nvSpPr>
        <p:spPr>
          <a:xfrm>
            <a:off x="85725" y="102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 ExtraBold"/>
                <a:ea typeface="Inter ExtraBold"/>
                <a:cs typeface="Inter ExtraBold"/>
                <a:sym typeface="Inter ExtraBold"/>
              </a:rPr>
              <a:t>Service Providers</a:t>
            </a:r>
            <a:endParaRPr>
              <a:solidFill>
                <a:schemeClr val="accent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220" name="Google Shape;220;p21"/>
          <p:cNvPicPr preferRelativeResize="0"/>
          <p:nvPr/>
        </p:nvPicPr>
        <p:blipFill rotWithShape="1">
          <a:blip r:embed="rId3">
            <a:alphaModFix/>
          </a:blip>
          <a:srcRect b="-2934" l="-2005" r="-4073" t="0"/>
          <a:stretch/>
        </p:blipFill>
        <p:spPr>
          <a:xfrm>
            <a:off x="6304025" y="1417262"/>
            <a:ext cx="2013325" cy="187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 rotWithShape="1">
          <a:blip r:embed="rId4">
            <a:alphaModFix/>
          </a:blip>
          <a:srcRect b="-3416" l="0" r="0" t="-3330"/>
          <a:stretch/>
        </p:blipFill>
        <p:spPr>
          <a:xfrm>
            <a:off x="3509850" y="1413088"/>
            <a:ext cx="1739500" cy="2020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/>
          <p:cNvPicPr preferRelativeResize="0"/>
          <p:nvPr/>
        </p:nvPicPr>
        <p:blipFill rotWithShape="1">
          <a:blip r:embed="rId5">
            <a:alphaModFix/>
          </a:blip>
          <a:srcRect b="-959" l="0" r="0" t="0"/>
          <a:stretch/>
        </p:blipFill>
        <p:spPr>
          <a:xfrm>
            <a:off x="774350" y="1545336"/>
            <a:ext cx="1622150" cy="189289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833031" y="3772932"/>
            <a:ext cx="15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ISP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3372948" y="3772925"/>
            <a:ext cx="201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Data Center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200090" y="3772925"/>
            <a:ext cx="2179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Cloud Service Provider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idx="4294967295" type="ctrTitle"/>
          </p:nvPr>
        </p:nvSpPr>
        <p:spPr>
          <a:xfrm>
            <a:off x="85725" y="102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Continuous Monitoring</a:t>
            </a:r>
            <a:endParaRPr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231" name="Google Shape;2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2656" y="1335870"/>
            <a:ext cx="1598344" cy="1472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900" y="1259400"/>
            <a:ext cx="1260987" cy="162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6525" y="1354618"/>
            <a:ext cx="1833900" cy="1434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9020" y="1429843"/>
            <a:ext cx="1833904" cy="1778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279024" y="3208150"/>
            <a:ext cx="183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Network Observability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2376525" y="3208150"/>
            <a:ext cx="1833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Endpoint Detection</a:t>
            </a:r>
            <a:b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&amp; Response (EDR)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759024" y="3208150"/>
            <a:ext cx="183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Vulnerability Scan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954874" y="3208150"/>
            <a:ext cx="183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 visibility into network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idx="4294967295" type="ctrTitle"/>
          </p:nvPr>
        </p:nvSpPr>
        <p:spPr>
          <a:xfrm>
            <a:off x="85725" y="102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Architectures</a:t>
            </a:r>
            <a:endParaRPr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244" name="Google Shape;2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363" y="1185425"/>
            <a:ext cx="1183537" cy="203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1162" y="1164825"/>
            <a:ext cx="2077525" cy="20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2253" y="1315332"/>
            <a:ext cx="1924547" cy="177651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590785" y="3392250"/>
            <a:ext cx="2216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Monolithic ERP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(Architecture)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3336185" y="3392250"/>
            <a:ext cx="2216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Three-tier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(Architecture)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6081585" y="3392250"/>
            <a:ext cx="221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Cloud microservices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(Architecture)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 txBox="1"/>
          <p:nvPr>
            <p:ph idx="4294967295" type="ctrTitle"/>
          </p:nvPr>
        </p:nvSpPr>
        <p:spPr>
          <a:xfrm>
            <a:off x="96450" y="1021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Connection Types</a:t>
            </a:r>
            <a:endParaRPr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294413" y="1004450"/>
            <a:ext cx="4191000" cy="3861900"/>
          </a:xfrm>
          <a:prstGeom prst="roundRect">
            <a:avLst>
              <a:gd fmla="val 3139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4658588" y="1004450"/>
            <a:ext cx="4191000" cy="3861900"/>
          </a:xfrm>
          <a:prstGeom prst="roundRect">
            <a:avLst>
              <a:gd fmla="val 3139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601" y="2583400"/>
            <a:ext cx="1614900" cy="9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325" y="2434675"/>
            <a:ext cx="1121948" cy="11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1281585" y="1176000"/>
            <a:ext cx="2216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Wired connections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488853" y="3761675"/>
            <a:ext cx="161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High-speed Connection</a:t>
            </a:r>
            <a:endParaRPr sz="15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2429603" y="3761675"/>
            <a:ext cx="161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r>
              <a:rPr lang="en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-speed Connection</a:t>
            </a:r>
            <a:endParaRPr sz="15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5645760" y="1176000"/>
            <a:ext cx="2216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Wireless connections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5971" y="2509037"/>
            <a:ext cx="1249404" cy="112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01322" y="2585300"/>
            <a:ext cx="1275294" cy="9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4931528" y="3761675"/>
            <a:ext cx="161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Wi-Fi</a:t>
            </a:r>
            <a:r>
              <a:rPr lang="en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Connection</a:t>
            </a:r>
            <a:endParaRPr sz="15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6933228" y="3761675"/>
            <a:ext cx="161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Cellular</a:t>
            </a:r>
            <a:r>
              <a:rPr lang="en" sz="15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Connection</a:t>
            </a:r>
            <a:endParaRPr sz="15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7" name="Google Shape;267;p24"/>
          <p:cNvCxnSpPr/>
          <p:nvPr/>
        </p:nvCxnSpPr>
        <p:spPr>
          <a:xfrm>
            <a:off x="724700" y="2067525"/>
            <a:ext cx="33678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8" name="Google Shape;268;p24"/>
          <p:cNvCxnSpPr/>
          <p:nvPr/>
        </p:nvCxnSpPr>
        <p:spPr>
          <a:xfrm>
            <a:off x="5070200" y="2092050"/>
            <a:ext cx="33678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 txBox="1"/>
          <p:nvPr/>
        </p:nvSpPr>
        <p:spPr>
          <a:xfrm>
            <a:off x="3024750" y="4625"/>
            <a:ext cx="35589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Network Redesign</a:t>
            </a:r>
            <a:endParaRPr sz="2800">
              <a:solidFill>
                <a:schemeClr val="dk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2328450" y="527525"/>
            <a:ext cx="15093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Building B</a:t>
            </a:r>
            <a:endParaRPr sz="1800">
              <a:solidFill>
                <a:schemeClr val="dk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7042925" y="523325"/>
            <a:ext cx="14223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Building D</a:t>
            </a:r>
            <a:endParaRPr sz="1800">
              <a:solidFill>
                <a:schemeClr val="dk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4815299" y="529413"/>
            <a:ext cx="15849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Building C</a:t>
            </a:r>
            <a:endParaRPr sz="1800">
              <a:solidFill>
                <a:schemeClr val="dk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96475" y="503825"/>
            <a:ext cx="1584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Building A</a:t>
            </a:r>
            <a:endParaRPr sz="1800">
              <a:solidFill>
                <a:schemeClr val="dk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278" name="Google Shape;2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26" y="1767040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26" y="1266066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745" y="996775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664" y="1767040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664" y="1266066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745" y="2111968"/>
            <a:ext cx="316037" cy="2356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25"/>
          <p:cNvCxnSpPr/>
          <p:nvPr/>
        </p:nvCxnSpPr>
        <p:spPr>
          <a:xfrm>
            <a:off x="960763" y="1248071"/>
            <a:ext cx="0" cy="84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5"/>
          <p:cNvCxnSpPr>
            <a:stCxn id="279" idx="3"/>
            <a:endCxn id="281" idx="1"/>
          </p:cNvCxnSpPr>
          <p:nvPr/>
        </p:nvCxnSpPr>
        <p:spPr>
          <a:xfrm>
            <a:off x="618862" y="1383907"/>
            <a:ext cx="683700" cy="50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5"/>
          <p:cNvCxnSpPr>
            <a:stCxn id="278" idx="3"/>
            <a:endCxn id="282" idx="1"/>
          </p:cNvCxnSpPr>
          <p:nvPr/>
        </p:nvCxnSpPr>
        <p:spPr>
          <a:xfrm flipH="1" rot="10800000">
            <a:off x="618862" y="1383882"/>
            <a:ext cx="683700" cy="50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5"/>
          <p:cNvCxnSpPr>
            <a:endCxn id="280" idx="1"/>
          </p:cNvCxnSpPr>
          <p:nvPr/>
        </p:nvCxnSpPr>
        <p:spPr>
          <a:xfrm flipH="1" rot="10800000">
            <a:off x="496745" y="1114616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5"/>
          <p:cNvCxnSpPr/>
          <p:nvPr/>
        </p:nvCxnSpPr>
        <p:spPr>
          <a:xfrm rot="10800000">
            <a:off x="1118619" y="1114785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5"/>
          <p:cNvCxnSpPr/>
          <p:nvPr/>
        </p:nvCxnSpPr>
        <p:spPr>
          <a:xfrm>
            <a:off x="496885" y="2027143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5"/>
          <p:cNvCxnSpPr/>
          <p:nvPr/>
        </p:nvCxnSpPr>
        <p:spPr>
          <a:xfrm flipH="1">
            <a:off x="1118619" y="2027143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5"/>
          <p:cNvCxnSpPr/>
          <p:nvPr/>
        </p:nvCxnSpPr>
        <p:spPr>
          <a:xfrm>
            <a:off x="460839" y="1516560"/>
            <a:ext cx="0" cy="23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5"/>
          <p:cNvCxnSpPr/>
          <p:nvPr/>
        </p:nvCxnSpPr>
        <p:spPr>
          <a:xfrm>
            <a:off x="1460688" y="1516560"/>
            <a:ext cx="0" cy="23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5"/>
          <p:cNvCxnSpPr/>
          <p:nvPr/>
        </p:nvCxnSpPr>
        <p:spPr>
          <a:xfrm>
            <a:off x="618885" y="1336868"/>
            <a:ext cx="68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5"/>
          <p:cNvCxnSpPr/>
          <p:nvPr/>
        </p:nvCxnSpPr>
        <p:spPr>
          <a:xfrm>
            <a:off x="618885" y="1914294"/>
            <a:ext cx="68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5"/>
          <p:cNvCxnSpPr/>
          <p:nvPr/>
        </p:nvCxnSpPr>
        <p:spPr>
          <a:xfrm>
            <a:off x="618879" y="1431499"/>
            <a:ext cx="3066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5"/>
          <p:cNvCxnSpPr/>
          <p:nvPr/>
        </p:nvCxnSpPr>
        <p:spPr>
          <a:xfrm flipH="1">
            <a:off x="996036" y="1431499"/>
            <a:ext cx="3066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5"/>
          <p:cNvCxnSpPr/>
          <p:nvPr/>
        </p:nvCxnSpPr>
        <p:spPr>
          <a:xfrm flipH="1" rot="10800000">
            <a:off x="618885" y="1260820"/>
            <a:ext cx="309900" cy="5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5"/>
          <p:cNvCxnSpPr/>
          <p:nvPr/>
        </p:nvCxnSpPr>
        <p:spPr>
          <a:xfrm rot="10800000">
            <a:off x="995442" y="1260820"/>
            <a:ext cx="307200" cy="5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9" name="Google Shape;2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538" y="1729215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538" y="1228241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3457" y="958950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3377" y="1729215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3377" y="1228241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3457" y="2074143"/>
            <a:ext cx="316037" cy="2356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25"/>
          <p:cNvCxnSpPr/>
          <p:nvPr/>
        </p:nvCxnSpPr>
        <p:spPr>
          <a:xfrm>
            <a:off x="3081476" y="1210246"/>
            <a:ext cx="0" cy="84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5"/>
          <p:cNvCxnSpPr>
            <a:stCxn id="300" idx="3"/>
            <a:endCxn id="302" idx="1"/>
          </p:cNvCxnSpPr>
          <p:nvPr/>
        </p:nvCxnSpPr>
        <p:spPr>
          <a:xfrm>
            <a:off x="2739575" y="1346082"/>
            <a:ext cx="683700" cy="50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5"/>
          <p:cNvCxnSpPr>
            <a:stCxn id="299" idx="3"/>
            <a:endCxn id="303" idx="1"/>
          </p:cNvCxnSpPr>
          <p:nvPr/>
        </p:nvCxnSpPr>
        <p:spPr>
          <a:xfrm flipH="1" rot="10800000">
            <a:off x="2739575" y="1346057"/>
            <a:ext cx="683700" cy="50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5"/>
          <p:cNvCxnSpPr>
            <a:endCxn id="301" idx="1"/>
          </p:cNvCxnSpPr>
          <p:nvPr/>
        </p:nvCxnSpPr>
        <p:spPr>
          <a:xfrm flipH="1" rot="10800000">
            <a:off x="2617457" y="1076791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5"/>
          <p:cNvCxnSpPr/>
          <p:nvPr/>
        </p:nvCxnSpPr>
        <p:spPr>
          <a:xfrm rot="10800000">
            <a:off x="3239332" y="1076960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5"/>
          <p:cNvCxnSpPr/>
          <p:nvPr/>
        </p:nvCxnSpPr>
        <p:spPr>
          <a:xfrm>
            <a:off x="2617598" y="1989318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5"/>
          <p:cNvCxnSpPr/>
          <p:nvPr/>
        </p:nvCxnSpPr>
        <p:spPr>
          <a:xfrm flipH="1">
            <a:off x="3239332" y="1989318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25"/>
          <p:cNvCxnSpPr/>
          <p:nvPr/>
        </p:nvCxnSpPr>
        <p:spPr>
          <a:xfrm>
            <a:off x="2581551" y="1478735"/>
            <a:ext cx="0" cy="23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25"/>
          <p:cNvCxnSpPr/>
          <p:nvPr/>
        </p:nvCxnSpPr>
        <p:spPr>
          <a:xfrm>
            <a:off x="3581401" y="1478735"/>
            <a:ext cx="0" cy="23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25"/>
          <p:cNvCxnSpPr/>
          <p:nvPr/>
        </p:nvCxnSpPr>
        <p:spPr>
          <a:xfrm>
            <a:off x="2739597" y="1299043"/>
            <a:ext cx="68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25"/>
          <p:cNvCxnSpPr/>
          <p:nvPr/>
        </p:nvCxnSpPr>
        <p:spPr>
          <a:xfrm>
            <a:off x="2739597" y="1876469"/>
            <a:ext cx="68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25"/>
          <p:cNvCxnSpPr/>
          <p:nvPr/>
        </p:nvCxnSpPr>
        <p:spPr>
          <a:xfrm>
            <a:off x="2739592" y="1393674"/>
            <a:ext cx="3066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25"/>
          <p:cNvCxnSpPr/>
          <p:nvPr/>
        </p:nvCxnSpPr>
        <p:spPr>
          <a:xfrm flipH="1">
            <a:off x="3116749" y="1393674"/>
            <a:ext cx="3066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5"/>
          <p:cNvCxnSpPr/>
          <p:nvPr/>
        </p:nvCxnSpPr>
        <p:spPr>
          <a:xfrm flipH="1" rot="10800000">
            <a:off x="2739597" y="1222995"/>
            <a:ext cx="309900" cy="5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5"/>
          <p:cNvCxnSpPr/>
          <p:nvPr/>
        </p:nvCxnSpPr>
        <p:spPr>
          <a:xfrm rot="10800000">
            <a:off x="3116154" y="1222995"/>
            <a:ext cx="307200" cy="5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0" name="Google Shape;3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3551" y="1729178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3551" y="1228204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3470" y="958913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389" y="1729178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389" y="1228204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3470" y="2074105"/>
            <a:ext cx="316037" cy="2356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6" name="Google Shape;326;p25"/>
          <p:cNvCxnSpPr/>
          <p:nvPr/>
        </p:nvCxnSpPr>
        <p:spPr>
          <a:xfrm>
            <a:off x="5521488" y="1210209"/>
            <a:ext cx="0" cy="84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25"/>
          <p:cNvCxnSpPr>
            <a:stCxn id="321" idx="3"/>
            <a:endCxn id="323" idx="1"/>
          </p:cNvCxnSpPr>
          <p:nvPr/>
        </p:nvCxnSpPr>
        <p:spPr>
          <a:xfrm>
            <a:off x="5179587" y="1346045"/>
            <a:ext cx="683700" cy="50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5"/>
          <p:cNvCxnSpPr>
            <a:stCxn id="320" idx="3"/>
            <a:endCxn id="324" idx="1"/>
          </p:cNvCxnSpPr>
          <p:nvPr/>
        </p:nvCxnSpPr>
        <p:spPr>
          <a:xfrm flipH="1" rot="10800000">
            <a:off x="5179587" y="1346019"/>
            <a:ext cx="683700" cy="50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5"/>
          <p:cNvCxnSpPr>
            <a:endCxn id="322" idx="1"/>
          </p:cNvCxnSpPr>
          <p:nvPr/>
        </p:nvCxnSpPr>
        <p:spPr>
          <a:xfrm flipH="1" rot="10800000">
            <a:off x="5057470" y="1076754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5"/>
          <p:cNvCxnSpPr/>
          <p:nvPr/>
        </p:nvCxnSpPr>
        <p:spPr>
          <a:xfrm rot="10800000">
            <a:off x="5679344" y="1076922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25"/>
          <p:cNvCxnSpPr/>
          <p:nvPr/>
        </p:nvCxnSpPr>
        <p:spPr>
          <a:xfrm>
            <a:off x="5057610" y="1989281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5"/>
          <p:cNvCxnSpPr/>
          <p:nvPr/>
        </p:nvCxnSpPr>
        <p:spPr>
          <a:xfrm flipH="1">
            <a:off x="5679344" y="1989281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5"/>
          <p:cNvCxnSpPr/>
          <p:nvPr/>
        </p:nvCxnSpPr>
        <p:spPr>
          <a:xfrm>
            <a:off x="5021564" y="1478697"/>
            <a:ext cx="0" cy="23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25"/>
          <p:cNvCxnSpPr/>
          <p:nvPr/>
        </p:nvCxnSpPr>
        <p:spPr>
          <a:xfrm>
            <a:off x="6021413" y="1478697"/>
            <a:ext cx="0" cy="23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5"/>
          <p:cNvCxnSpPr/>
          <p:nvPr/>
        </p:nvCxnSpPr>
        <p:spPr>
          <a:xfrm>
            <a:off x="5179610" y="1299006"/>
            <a:ext cx="68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25"/>
          <p:cNvCxnSpPr/>
          <p:nvPr/>
        </p:nvCxnSpPr>
        <p:spPr>
          <a:xfrm>
            <a:off x="5179610" y="1876432"/>
            <a:ext cx="68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25"/>
          <p:cNvCxnSpPr/>
          <p:nvPr/>
        </p:nvCxnSpPr>
        <p:spPr>
          <a:xfrm>
            <a:off x="5179604" y="1393636"/>
            <a:ext cx="3066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25"/>
          <p:cNvCxnSpPr/>
          <p:nvPr/>
        </p:nvCxnSpPr>
        <p:spPr>
          <a:xfrm flipH="1">
            <a:off x="5556761" y="1393636"/>
            <a:ext cx="3066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5"/>
          <p:cNvCxnSpPr/>
          <p:nvPr/>
        </p:nvCxnSpPr>
        <p:spPr>
          <a:xfrm flipH="1" rot="10800000">
            <a:off x="5179610" y="1222958"/>
            <a:ext cx="309900" cy="5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25"/>
          <p:cNvCxnSpPr/>
          <p:nvPr/>
        </p:nvCxnSpPr>
        <p:spPr>
          <a:xfrm rot="10800000">
            <a:off x="5556167" y="1222958"/>
            <a:ext cx="307200" cy="5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1" name="Google Shape;3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7526" y="1729078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7526" y="1228104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7445" y="958813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7364" y="1729078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7364" y="1228104"/>
            <a:ext cx="316037" cy="23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7445" y="2074005"/>
            <a:ext cx="316037" cy="2356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p25"/>
          <p:cNvCxnSpPr/>
          <p:nvPr/>
        </p:nvCxnSpPr>
        <p:spPr>
          <a:xfrm>
            <a:off x="7785463" y="1210109"/>
            <a:ext cx="0" cy="84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5"/>
          <p:cNvCxnSpPr>
            <a:stCxn id="342" idx="3"/>
            <a:endCxn id="344" idx="1"/>
          </p:cNvCxnSpPr>
          <p:nvPr/>
        </p:nvCxnSpPr>
        <p:spPr>
          <a:xfrm>
            <a:off x="7443562" y="1345945"/>
            <a:ext cx="683700" cy="50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5"/>
          <p:cNvCxnSpPr>
            <a:stCxn id="341" idx="3"/>
            <a:endCxn id="345" idx="1"/>
          </p:cNvCxnSpPr>
          <p:nvPr/>
        </p:nvCxnSpPr>
        <p:spPr>
          <a:xfrm flipH="1" rot="10800000">
            <a:off x="7443562" y="1345919"/>
            <a:ext cx="683700" cy="50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5"/>
          <p:cNvCxnSpPr>
            <a:endCxn id="343" idx="1"/>
          </p:cNvCxnSpPr>
          <p:nvPr/>
        </p:nvCxnSpPr>
        <p:spPr>
          <a:xfrm flipH="1" rot="10800000">
            <a:off x="7321445" y="1076654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5"/>
          <p:cNvCxnSpPr/>
          <p:nvPr/>
        </p:nvCxnSpPr>
        <p:spPr>
          <a:xfrm rot="10800000">
            <a:off x="7943319" y="1076822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5"/>
          <p:cNvCxnSpPr/>
          <p:nvPr/>
        </p:nvCxnSpPr>
        <p:spPr>
          <a:xfrm>
            <a:off x="7321585" y="1989181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5"/>
          <p:cNvCxnSpPr/>
          <p:nvPr/>
        </p:nvCxnSpPr>
        <p:spPr>
          <a:xfrm flipH="1">
            <a:off x="7943319" y="1989181"/>
            <a:ext cx="306000" cy="12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5"/>
          <p:cNvCxnSpPr/>
          <p:nvPr/>
        </p:nvCxnSpPr>
        <p:spPr>
          <a:xfrm>
            <a:off x="7285539" y="1478597"/>
            <a:ext cx="0" cy="23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25"/>
          <p:cNvCxnSpPr/>
          <p:nvPr/>
        </p:nvCxnSpPr>
        <p:spPr>
          <a:xfrm>
            <a:off x="8285388" y="1478597"/>
            <a:ext cx="0" cy="23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25"/>
          <p:cNvCxnSpPr/>
          <p:nvPr/>
        </p:nvCxnSpPr>
        <p:spPr>
          <a:xfrm>
            <a:off x="7443585" y="1298906"/>
            <a:ext cx="68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25"/>
          <p:cNvCxnSpPr/>
          <p:nvPr/>
        </p:nvCxnSpPr>
        <p:spPr>
          <a:xfrm>
            <a:off x="7443585" y="1876332"/>
            <a:ext cx="68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25"/>
          <p:cNvCxnSpPr/>
          <p:nvPr/>
        </p:nvCxnSpPr>
        <p:spPr>
          <a:xfrm>
            <a:off x="7443579" y="1393536"/>
            <a:ext cx="3066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25"/>
          <p:cNvCxnSpPr/>
          <p:nvPr/>
        </p:nvCxnSpPr>
        <p:spPr>
          <a:xfrm flipH="1">
            <a:off x="7820736" y="1393536"/>
            <a:ext cx="306600" cy="66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25"/>
          <p:cNvCxnSpPr/>
          <p:nvPr/>
        </p:nvCxnSpPr>
        <p:spPr>
          <a:xfrm flipH="1" rot="10800000">
            <a:off x="7443585" y="1222858"/>
            <a:ext cx="309900" cy="5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25"/>
          <p:cNvCxnSpPr/>
          <p:nvPr/>
        </p:nvCxnSpPr>
        <p:spPr>
          <a:xfrm rot="10800000">
            <a:off x="7820142" y="1222858"/>
            <a:ext cx="307200" cy="59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2" name="Google Shape;36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513" y="56200"/>
            <a:ext cx="590379" cy="5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7863" y="18375"/>
            <a:ext cx="590379" cy="5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250" y="18225"/>
            <a:ext cx="590379" cy="5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7263" y="63075"/>
            <a:ext cx="590379" cy="5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4428"/>
            <a:ext cx="683699" cy="53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7025" y="73653"/>
            <a:ext cx="683699" cy="53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200" y="54428"/>
            <a:ext cx="683699" cy="53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4187" y="45941"/>
            <a:ext cx="683699" cy="534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5"/>
          <p:cNvPicPr preferRelativeResize="0"/>
          <p:nvPr/>
        </p:nvPicPr>
        <p:blipFill rotWithShape="1">
          <a:blip r:embed="rId6">
            <a:alphaModFix/>
          </a:blip>
          <a:srcRect b="-3416" l="0" r="0" t="-3330"/>
          <a:stretch/>
        </p:blipFill>
        <p:spPr>
          <a:xfrm>
            <a:off x="5726225" y="4425125"/>
            <a:ext cx="590375" cy="685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09427" y="3253190"/>
            <a:ext cx="953200" cy="95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1875" y="2592376"/>
            <a:ext cx="501000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5"/>
          <p:cNvPicPr preferRelativeResize="0"/>
          <p:nvPr/>
        </p:nvPicPr>
        <p:blipFill rotWithShape="1">
          <a:blip r:embed="rId9">
            <a:alphaModFix/>
          </a:blip>
          <a:srcRect b="416" l="0" r="0" t="426"/>
          <a:stretch/>
        </p:blipFill>
        <p:spPr>
          <a:xfrm>
            <a:off x="2120218" y="3230119"/>
            <a:ext cx="683700" cy="641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5"/>
          <p:cNvPicPr preferRelativeResize="0"/>
          <p:nvPr/>
        </p:nvPicPr>
        <p:blipFill rotWithShape="1">
          <a:blip r:embed="rId10">
            <a:alphaModFix/>
          </a:blip>
          <a:srcRect b="0" l="219" r="209" t="0"/>
          <a:stretch/>
        </p:blipFill>
        <p:spPr>
          <a:xfrm>
            <a:off x="618875" y="3217957"/>
            <a:ext cx="687000" cy="666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25"/>
          <p:cNvCxnSpPr>
            <a:stCxn id="283" idx="2"/>
            <a:endCxn id="374" idx="0"/>
          </p:cNvCxnSpPr>
          <p:nvPr/>
        </p:nvCxnSpPr>
        <p:spPr>
          <a:xfrm>
            <a:off x="960763" y="2347650"/>
            <a:ext cx="1500" cy="8703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cxnSp>
        <p:nvCxnSpPr>
          <p:cNvPr id="376" name="Google Shape;376;p25"/>
          <p:cNvCxnSpPr>
            <a:stCxn id="373" idx="1"/>
            <a:endCxn id="374" idx="3"/>
          </p:cNvCxnSpPr>
          <p:nvPr/>
        </p:nvCxnSpPr>
        <p:spPr>
          <a:xfrm rot="10800000">
            <a:off x="1306018" y="3551051"/>
            <a:ext cx="8142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pic>
        <p:nvPicPr>
          <p:cNvPr id="377" name="Google Shape;377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62562" y="3360626"/>
            <a:ext cx="501000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21187" y="3309976"/>
            <a:ext cx="501000" cy="3808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9" name="Google Shape;379;p25"/>
          <p:cNvCxnSpPr>
            <a:stCxn id="371" idx="1"/>
            <a:endCxn id="373" idx="3"/>
          </p:cNvCxnSpPr>
          <p:nvPr/>
        </p:nvCxnSpPr>
        <p:spPr>
          <a:xfrm rot="10800000">
            <a:off x="2803827" y="3551002"/>
            <a:ext cx="1005600" cy="1788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pic>
        <p:nvPicPr>
          <p:cNvPr id="380" name="Google Shape;380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7469777" y="2653319"/>
            <a:ext cx="576043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5"/>
          <p:cNvPicPr preferRelativeResize="0"/>
          <p:nvPr/>
        </p:nvPicPr>
        <p:blipFill rotWithShape="1">
          <a:blip r:embed="rId9">
            <a:alphaModFix/>
          </a:blip>
          <a:srcRect b="416" l="0" r="0" t="426"/>
          <a:stretch/>
        </p:blipFill>
        <p:spPr>
          <a:xfrm flipH="1">
            <a:off x="5768137" y="3389937"/>
            <a:ext cx="786111" cy="641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5"/>
          <p:cNvPicPr preferRelativeResize="0"/>
          <p:nvPr/>
        </p:nvPicPr>
        <p:blipFill rotWithShape="1">
          <a:blip r:embed="rId10">
            <a:alphaModFix/>
          </a:blip>
          <a:srcRect b="0" l="219" r="209" t="0"/>
          <a:stretch/>
        </p:blipFill>
        <p:spPr>
          <a:xfrm flipH="1">
            <a:off x="7490572" y="3377775"/>
            <a:ext cx="789903" cy="666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25"/>
          <p:cNvCxnSpPr>
            <a:stCxn id="346" idx="2"/>
            <a:endCxn id="382" idx="0"/>
          </p:cNvCxnSpPr>
          <p:nvPr/>
        </p:nvCxnSpPr>
        <p:spPr>
          <a:xfrm>
            <a:off x="7785463" y="2309688"/>
            <a:ext cx="100200" cy="10680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cxnSp>
        <p:nvCxnSpPr>
          <p:cNvPr id="384" name="Google Shape;384;p25"/>
          <p:cNvCxnSpPr>
            <a:stCxn id="381" idx="1"/>
            <a:endCxn id="382" idx="3"/>
          </p:cNvCxnSpPr>
          <p:nvPr/>
        </p:nvCxnSpPr>
        <p:spPr>
          <a:xfrm>
            <a:off x="6554247" y="3710869"/>
            <a:ext cx="9363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pic>
        <p:nvPicPr>
          <p:cNvPr id="385" name="Google Shape;38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734370" y="3520444"/>
            <a:ext cx="576043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4942355" y="3389931"/>
            <a:ext cx="576043" cy="3808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7" name="Google Shape;387;p25"/>
          <p:cNvCxnSpPr>
            <a:stCxn id="371" idx="3"/>
            <a:endCxn id="381" idx="3"/>
          </p:cNvCxnSpPr>
          <p:nvPr/>
        </p:nvCxnSpPr>
        <p:spPr>
          <a:xfrm flipH="1" rot="10800000">
            <a:off x="4762627" y="3710902"/>
            <a:ext cx="1005600" cy="189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pic>
        <p:nvPicPr>
          <p:cNvPr id="388" name="Google Shape;388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62925" y="2205651"/>
            <a:ext cx="501000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5"/>
          <p:cNvPicPr preferRelativeResize="0"/>
          <p:nvPr/>
        </p:nvPicPr>
        <p:blipFill rotWithShape="1">
          <a:blip r:embed="rId9">
            <a:alphaModFix/>
          </a:blip>
          <a:srcRect b="416" l="0" r="0" t="426"/>
          <a:stretch/>
        </p:blipFill>
        <p:spPr>
          <a:xfrm>
            <a:off x="3103243" y="2545419"/>
            <a:ext cx="683700" cy="641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5"/>
          <p:cNvPicPr preferRelativeResize="0"/>
          <p:nvPr/>
        </p:nvPicPr>
        <p:blipFill rotWithShape="1">
          <a:blip r:embed="rId10">
            <a:alphaModFix/>
          </a:blip>
          <a:srcRect b="0" l="219" r="209" t="0"/>
          <a:stretch/>
        </p:blipFill>
        <p:spPr>
          <a:xfrm>
            <a:off x="1601900" y="2533257"/>
            <a:ext cx="687000" cy="666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25"/>
          <p:cNvCxnSpPr>
            <a:stCxn id="304" idx="2"/>
            <a:endCxn id="390" idx="0"/>
          </p:cNvCxnSpPr>
          <p:nvPr/>
        </p:nvCxnSpPr>
        <p:spPr>
          <a:xfrm flipH="1">
            <a:off x="1945376" y="2309825"/>
            <a:ext cx="1136100" cy="2235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cxnSp>
        <p:nvCxnSpPr>
          <p:cNvPr id="392" name="Google Shape;392;p25"/>
          <p:cNvCxnSpPr>
            <a:stCxn id="389" idx="1"/>
            <a:endCxn id="390" idx="3"/>
          </p:cNvCxnSpPr>
          <p:nvPr/>
        </p:nvCxnSpPr>
        <p:spPr>
          <a:xfrm rot="10800000">
            <a:off x="2289043" y="2866351"/>
            <a:ext cx="8142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pic>
        <p:nvPicPr>
          <p:cNvPr id="393" name="Google Shape;39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45587" y="2675926"/>
            <a:ext cx="501000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96112" y="2653313"/>
            <a:ext cx="501000" cy="3808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25"/>
          <p:cNvCxnSpPr>
            <a:stCxn id="371" idx="0"/>
            <a:endCxn id="389" idx="3"/>
          </p:cNvCxnSpPr>
          <p:nvPr/>
        </p:nvCxnSpPr>
        <p:spPr>
          <a:xfrm rot="10800000">
            <a:off x="3786827" y="2866490"/>
            <a:ext cx="499200" cy="3867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pic>
        <p:nvPicPr>
          <p:cNvPr id="396" name="Google Shape;39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5887610" y="2203481"/>
            <a:ext cx="464239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5"/>
          <p:cNvPicPr preferRelativeResize="0"/>
          <p:nvPr/>
        </p:nvPicPr>
        <p:blipFill rotWithShape="1">
          <a:blip r:embed="rId9">
            <a:alphaModFix/>
          </a:blip>
          <a:srcRect b="416" l="0" r="0" t="426"/>
          <a:stretch/>
        </p:blipFill>
        <p:spPr>
          <a:xfrm flipH="1">
            <a:off x="5171825" y="2541125"/>
            <a:ext cx="633533" cy="641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5"/>
          <p:cNvPicPr preferRelativeResize="0"/>
          <p:nvPr/>
        </p:nvPicPr>
        <p:blipFill rotWithShape="1">
          <a:blip r:embed="rId10">
            <a:alphaModFix/>
          </a:blip>
          <a:srcRect b="0" l="219" r="209" t="0"/>
          <a:stretch/>
        </p:blipFill>
        <p:spPr>
          <a:xfrm flipH="1">
            <a:off x="6559947" y="2528963"/>
            <a:ext cx="636591" cy="666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25"/>
          <p:cNvCxnSpPr>
            <a:stCxn id="325" idx="2"/>
            <a:endCxn id="398" idx="0"/>
          </p:cNvCxnSpPr>
          <p:nvPr/>
        </p:nvCxnSpPr>
        <p:spPr>
          <a:xfrm>
            <a:off x="5521488" y="2309788"/>
            <a:ext cx="1356900" cy="2193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cxnSp>
        <p:nvCxnSpPr>
          <p:cNvPr id="400" name="Google Shape;400;p25"/>
          <p:cNvCxnSpPr>
            <a:stCxn id="397" idx="1"/>
            <a:endCxn id="398" idx="3"/>
          </p:cNvCxnSpPr>
          <p:nvPr/>
        </p:nvCxnSpPr>
        <p:spPr>
          <a:xfrm>
            <a:off x="5805357" y="2862057"/>
            <a:ext cx="7545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pic>
        <p:nvPicPr>
          <p:cNvPr id="401" name="Google Shape;401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5950518" y="2671631"/>
            <a:ext cx="464239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4506260" y="2620981"/>
            <a:ext cx="464239" cy="3808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" name="Google Shape;403;p25"/>
          <p:cNvCxnSpPr>
            <a:stCxn id="371" idx="0"/>
            <a:endCxn id="397" idx="3"/>
          </p:cNvCxnSpPr>
          <p:nvPr/>
        </p:nvCxnSpPr>
        <p:spPr>
          <a:xfrm flipH="1" rot="10800000">
            <a:off x="4286027" y="2861990"/>
            <a:ext cx="885900" cy="3912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pic>
        <p:nvPicPr>
          <p:cNvPr id="404" name="Google Shape;40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4342" y="4485526"/>
            <a:ext cx="496508" cy="53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4750" y="4483925"/>
            <a:ext cx="574991" cy="48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4882764" y="4577563"/>
            <a:ext cx="394256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5"/>
          <p:cNvPicPr preferRelativeResize="0"/>
          <p:nvPr/>
        </p:nvPicPr>
        <p:blipFill rotWithShape="1">
          <a:blip r:embed="rId9">
            <a:alphaModFix/>
          </a:blip>
          <a:srcRect b="416" l="0" r="0" t="426"/>
          <a:stretch/>
        </p:blipFill>
        <p:spPr>
          <a:xfrm flipH="1">
            <a:off x="2566530" y="4472093"/>
            <a:ext cx="538030" cy="641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5"/>
          <p:cNvPicPr preferRelativeResize="0"/>
          <p:nvPr/>
        </p:nvPicPr>
        <p:blipFill rotWithShape="1">
          <a:blip r:embed="rId10">
            <a:alphaModFix/>
          </a:blip>
          <a:srcRect b="0" l="219" r="209" t="0"/>
          <a:stretch/>
        </p:blipFill>
        <p:spPr>
          <a:xfrm flipH="1">
            <a:off x="3745398" y="4459931"/>
            <a:ext cx="540627" cy="666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9" name="Google Shape;409;p25"/>
          <p:cNvCxnSpPr>
            <a:stCxn id="370" idx="1"/>
            <a:endCxn id="408" idx="1"/>
          </p:cNvCxnSpPr>
          <p:nvPr/>
        </p:nvCxnSpPr>
        <p:spPr>
          <a:xfrm flipH="1">
            <a:off x="4285925" y="4767979"/>
            <a:ext cx="1440300" cy="249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cxnSp>
        <p:nvCxnSpPr>
          <p:cNvPr id="410" name="Google Shape;410;p25"/>
          <p:cNvCxnSpPr>
            <a:stCxn id="407" idx="1"/>
            <a:endCxn id="408" idx="3"/>
          </p:cNvCxnSpPr>
          <p:nvPr/>
        </p:nvCxnSpPr>
        <p:spPr>
          <a:xfrm>
            <a:off x="3104560" y="4793025"/>
            <a:ext cx="64080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  <p:pic>
        <p:nvPicPr>
          <p:cNvPr id="411" name="Google Shape;411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3227839" y="4602600"/>
            <a:ext cx="394256" cy="380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3426597" y="4206425"/>
            <a:ext cx="394256" cy="3808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25"/>
          <p:cNvCxnSpPr>
            <a:stCxn id="371" idx="2"/>
            <a:endCxn id="407" idx="3"/>
          </p:cNvCxnSpPr>
          <p:nvPr/>
        </p:nvCxnSpPr>
        <p:spPr>
          <a:xfrm flipH="1">
            <a:off x="2566427" y="4206415"/>
            <a:ext cx="1719600" cy="58650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dot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6"/>
          <p:cNvSpPr txBox="1"/>
          <p:nvPr/>
        </p:nvSpPr>
        <p:spPr>
          <a:xfrm>
            <a:off x="2444125" y="0"/>
            <a:ext cx="481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Documentation</a:t>
            </a:r>
            <a:endParaRPr sz="2800">
              <a:solidFill>
                <a:schemeClr val="dk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9" name="Google Shape;419;p26"/>
          <p:cNvSpPr txBox="1"/>
          <p:nvPr/>
        </p:nvSpPr>
        <p:spPr>
          <a:xfrm>
            <a:off x="171500" y="728925"/>
            <a:ext cx="8672400" cy="4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Change </a:t>
            </a:r>
            <a:r>
              <a:rPr lang="en">
                <a:solidFill>
                  <a:schemeClr val="dk2"/>
                </a:solidFill>
              </a:rPr>
              <a:t>Architecture from ERP to Three-Tier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Tempus Fugit growth being impeded by their current architecture; therefore, requires change for more room for company growth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This architecture has great confidentiality, integrity, and availability than ERP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Change Topology from Ring to Mesh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Tempus Fugit are having connection issue due to cable and network failure, so this change would solve those issue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The mesh method allows better integrity as it does not rely on a single connection between devices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Change LAN to WAN and added EDR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Gives IT more access to the status of all buildings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Gives employees access data remote if needed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Increase integrity as they can now monitor for suspicious activity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Tempus Fugit concerns about no having access to data without being 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Upgrade routers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Modernize their routers for better connection and handle desired speeds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Added firewall for further security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Increase availability with less delay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